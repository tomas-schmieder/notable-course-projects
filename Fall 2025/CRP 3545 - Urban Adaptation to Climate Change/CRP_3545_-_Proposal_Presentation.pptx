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4"/>
  </p:sldMasterIdLst>
  <p:notesMasterIdLst>
    <p:notesMasterId r:id="rId13"/>
  </p:notesMasterIdLst>
  <p:sldIdLst>
    <p:sldId id="256" r:id="rId5"/>
    <p:sldId id="257" r:id="rId6"/>
    <p:sldId id="258" r:id="rId7"/>
    <p:sldId id="259" r:id="rId8"/>
    <p:sldId id="260" r:id="rId9"/>
    <p:sldId id="262" r:id="rId10"/>
    <p:sldId id="264"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B8E0C6-0058-4C44-892E-E5D0FB3C12F3}" v="2" dt="2025-11-17T03:33:28.5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60" autoAdjust="0"/>
    <p:restoredTop sz="82042"/>
  </p:normalViewPr>
  <p:slideViewPr>
    <p:cSldViewPr snapToGrid="0">
      <p:cViewPr varScale="1">
        <p:scale>
          <a:sx n="95" d="100"/>
          <a:sy n="95" d="100"/>
        </p:scale>
        <p:origin x="1304" y="19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93" d="100"/>
          <a:sy n="93" d="100"/>
        </p:scale>
        <p:origin x="3784"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32EEF6-1464-E546-8930-64A87FADB22F}" type="datetimeFigureOut">
              <a:rPr lang="en-US" smtClean="0"/>
              <a:t>11/16/25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CCB316-150E-C24E-9E65-65CEF9A1C8CB}" type="slidenum">
              <a:rPr lang="en-US" smtClean="0"/>
              <a:t>‹#›</a:t>
            </a:fld>
            <a:endParaRPr lang="en-US"/>
          </a:p>
        </p:txBody>
      </p:sp>
    </p:spTree>
    <p:extLst>
      <p:ext uri="{BB962C8B-B14F-4D97-AF65-F5344CB8AC3E}">
        <p14:creationId xmlns:p14="http://schemas.microsoft.com/office/powerpoint/2010/main" val="3895861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5CCB316-150E-C24E-9E65-65CEF9A1C8CB}" type="slidenum">
              <a:rPr lang="en-US" smtClean="0"/>
              <a:t>1</a:t>
            </a:fld>
            <a:endParaRPr lang="en-US"/>
          </a:p>
        </p:txBody>
      </p:sp>
    </p:spTree>
    <p:extLst>
      <p:ext uri="{BB962C8B-B14F-4D97-AF65-F5344CB8AC3E}">
        <p14:creationId xmlns:p14="http://schemas.microsoft.com/office/powerpoint/2010/main" val="3808941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Panamá’s Monitoring &amp; Evaluation framework created in partnership with the Initiative for Climate Action Transparency (ICAT), a total of 21 climate indicators were identified.</a:t>
            </a:r>
          </a:p>
          <a:p>
            <a:r>
              <a:rPr lang="en-US" dirty="0"/>
              <a:t>Ex:</a:t>
            </a:r>
            <a:r>
              <a:rPr lang="en-US" i="1" dirty="0"/>
              <a:t> Working organizations that include climate change adaptation,</a:t>
            </a:r>
            <a:r>
              <a:rPr lang="en-US" dirty="0"/>
              <a:t> </a:t>
            </a:r>
            <a:r>
              <a:rPr lang="en-US" i="1" dirty="0"/>
              <a:t>Number of Tide gauges installed, percentage of people displaced from their homes as a result of floods, municipalities with local regulations that consider climate change adaptation and vulnerability assessments, …</a:t>
            </a:r>
            <a:endParaRPr lang="en-US" dirty="0"/>
          </a:p>
          <a:p>
            <a:r>
              <a:rPr lang="en-US" dirty="0"/>
              <a:t>However, these climate indicators were inconsistent, not sharing common measurements, and coming from 17 different institutions. Common confusion was found about the quantification and measurement of the indicators.</a:t>
            </a:r>
          </a:p>
          <a:p>
            <a:r>
              <a:rPr lang="en-US" dirty="0"/>
              <a:t>52% of the indicators were identified in having data specific issues</a:t>
            </a:r>
          </a:p>
          <a:p>
            <a:r>
              <a:rPr lang="en-US" dirty="0"/>
              <a:t>And notably the indicators and data do not take into account or are generated from local-communities. All relying on top-down institutions as sources.</a:t>
            </a:r>
          </a:p>
          <a:p>
            <a:endParaRPr lang="en-US" dirty="0"/>
          </a:p>
        </p:txBody>
      </p:sp>
      <p:sp>
        <p:nvSpPr>
          <p:cNvPr id="4" name="Slide Number Placeholder 3"/>
          <p:cNvSpPr>
            <a:spLocks noGrp="1"/>
          </p:cNvSpPr>
          <p:nvPr>
            <p:ph type="sldNum" sz="quarter" idx="5"/>
          </p:nvPr>
        </p:nvSpPr>
        <p:spPr/>
        <p:txBody>
          <a:bodyPr/>
          <a:lstStyle/>
          <a:p>
            <a:fld id="{E5CCB316-150E-C24E-9E65-65CEF9A1C8CB}" type="slidenum">
              <a:rPr lang="en-US" smtClean="0"/>
              <a:t>3</a:t>
            </a:fld>
            <a:endParaRPr lang="en-US"/>
          </a:p>
        </p:txBody>
      </p:sp>
    </p:spTree>
    <p:extLst>
      <p:ext uri="{BB962C8B-B14F-4D97-AF65-F5344CB8AC3E}">
        <p14:creationId xmlns:p14="http://schemas.microsoft.com/office/powerpoint/2010/main" val="35232451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Font typeface="+mj-lt"/>
              <a:buAutoNum type="arabicPeriod"/>
            </a:pPr>
            <a:r>
              <a:rPr lang="en-US" dirty="0"/>
              <a:t>Resource Allocation: Inability to target investments into neighborhoods that need the most, because we lack the ability to identify them</a:t>
            </a:r>
          </a:p>
          <a:p>
            <a:pPr marL="457200" indent="-457200">
              <a:buFont typeface="+mj-lt"/>
              <a:buAutoNum type="arabicPeriod"/>
            </a:pPr>
            <a:r>
              <a:rPr lang="en-US" dirty="0"/>
              <a:t>Financial Access: We are unable to unlock international climate financing without the ability to quantitatively prove that our adaptation strategies are working</a:t>
            </a:r>
          </a:p>
          <a:p>
            <a:pPr marL="457200" indent="-457200">
              <a:buFont typeface="+mj-lt"/>
              <a:buAutoNum type="arabicPeriod"/>
            </a:pPr>
            <a:r>
              <a:rPr lang="en-US" dirty="0"/>
              <a:t>Proactive Planning: We will remain in a cycle of reactive disaster response, rather than proactive adaptation because we lack the predictive data to act early</a:t>
            </a:r>
          </a:p>
          <a:p>
            <a:endParaRPr lang="en-US" dirty="0"/>
          </a:p>
        </p:txBody>
      </p:sp>
      <p:sp>
        <p:nvSpPr>
          <p:cNvPr id="4" name="Slide Number Placeholder 3"/>
          <p:cNvSpPr>
            <a:spLocks noGrp="1"/>
          </p:cNvSpPr>
          <p:nvPr>
            <p:ph type="sldNum" sz="quarter" idx="5"/>
          </p:nvPr>
        </p:nvSpPr>
        <p:spPr/>
        <p:txBody>
          <a:bodyPr/>
          <a:lstStyle/>
          <a:p>
            <a:fld id="{E5CCB316-150E-C24E-9E65-65CEF9A1C8CB}" type="slidenum">
              <a:rPr lang="en-US" smtClean="0"/>
              <a:t>4</a:t>
            </a:fld>
            <a:endParaRPr lang="en-US"/>
          </a:p>
        </p:txBody>
      </p:sp>
    </p:spTree>
    <p:extLst>
      <p:ext uri="{BB962C8B-B14F-4D97-AF65-F5344CB8AC3E}">
        <p14:creationId xmlns:p14="http://schemas.microsoft.com/office/powerpoint/2010/main" val="275930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clear that functional and consistent climate indicators are needed so that climate resilience and adaptation planning can move forward supported by a data-driven framework.</a:t>
            </a:r>
          </a:p>
          <a:p>
            <a:r>
              <a:rPr lang="en-US" dirty="0"/>
              <a:t>To gain these indicators, it is proposed to create a partnership between Panamá’s universities and </a:t>
            </a:r>
            <a:r>
              <a:rPr lang="en-US" dirty="0" err="1"/>
              <a:t>MiAmbiente</a:t>
            </a:r>
            <a:r>
              <a:rPr lang="en-US" dirty="0"/>
              <a:t>, the owner of the M&amp;E framework and the ones most impacted by the data gap, to create a program that will work with students to conduct vulnerability assessments and monitoring of local communities.</a:t>
            </a:r>
          </a:p>
          <a:p>
            <a:endParaRPr lang="en-US" dirty="0"/>
          </a:p>
        </p:txBody>
      </p:sp>
      <p:sp>
        <p:nvSpPr>
          <p:cNvPr id="4" name="Slide Number Placeholder 3"/>
          <p:cNvSpPr>
            <a:spLocks noGrp="1"/>
          </p:cNvSpPr>
          <p:nvPr>
            <p:ph type="sldNum" sz="quarter" idx="5"/>
          </p:nvPr>
        </p:nvSpPr>
        <p:spPr/>
        <p:txBody>
          <a:bodyPr/>
          <a:lstStyle/>
          <a:p>
            <a:fld id="{E5CCB316-150E-C24E-9E65-65CEF9A1C8CB}" type="slidenum">
              <a:rPr lang="en-US" smtClean="0"/>
              <a:t>5</a:t>
            </a:fld>
            <a:endParaRPr lang="en-US"/>
          </a:p>
        </p:txBody>
      </p:sp>
    </p:spTree>
    <p:extLst>
      <p:ext uri="{BB962C8B-B14F-4D97-AF65-F5344CB8AC3E}">
        <p14:creationId xmlns:p14="http://schemas.microsoft.com/office/powerpoint/2010/main" val="73808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implement this framework, we propose to align two existing systems, 1. </a:t>
            </a:r>
            <a:r>
              <a:rPr lang="en-US" dirty="0" err="1"/>
              <a:t>MiAmbiente’s</a:t>
            </a:r>
            <a:r>
              <a:rPr lang="en-US" dirty="0"/>
              <a:t> critical data and workforce gap, and 2. A Mandate, The Latin University of Panama, has an existing constitution, article 301, acting as a regulation, and requirement for students to perform 100 hours of community service. The community service can be acted in the form of</a:t>
            </a:r>
          </a:p>
          <a:p>
            <a:r>
              <a:rPr lang="en-US" dirty="0"/>
              <a:t>- </a:t>
            </a:r>
          </a:p>
          <a:p>
            <a:endParaRPr lang="en-US" dirty="0"/>
          </a:p>
          <a:p>
            <a:endParaRPr lang="en-US" dirty="0"/>
          </a:p>
          <a:p>
            <a:r>
              <a:rPr lang="en-US" dirty="0"/>
              <a:t>This purpose could be piloted, and scaled, to extend to all universities in Panama, repurposing this mandate toward beneficial data collection and assessment of climate vulnerable communities. </a:t>
            </a:r>
          </a:p>
        </p:txBody>
      </p:sp>
      <p:sp>
        <p:nvSpPr>
          <p:cNvPr id="4" name="Slide Number Placeholder 3"/>
          <p:cNvSpPr>
            <a:spLocks noGrp="1"/>
          </p:cNvSpPr>
          <p:nvPr>
            <p:ph type="sldNum" sz="quarter" idx="5"/>
          </p:nvPr>
        </p:nvSpPr>
        <p:spPr/>
        <p:txBody>
          <a:bodyPr/>
          <a:lstStyle/>
          <a:p>
            <a:fld id="{E5CCB316-150E-C24E-9E65-65CEF9A1C8CB}" type="slidenum">
              <a:rPr lang="en-US" smtClean="0"/>
              <a:t>6</a:t>
            </a:fld>
            <a:endParaRPr lang="en-US"/>
          </a:p>
        </p:txBody>
      </p:sp>
    </p:spTree>
    <p:extLst>
      <p:ext uri="{BB962C8B-B14F-4D97-AF65-F5344CB8AC3E}">
        <p14:creationId xmlns:p14="http://schemas.microsoft.com/office/powerpoint/2010/main" val="3089765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Therefore to address the climate adaptation gap, it would be beneficial, for Panama’s Ministry of the Environment, to partner with Local Universities so that they can clear the data deficit, while also benefitting students</a:t>
            </a:r>
          </a:p>
          <a:p>
            <a:endParaRPr lang="en-US" dirty="0"/>
          </a:p>
          <a:p>
            <a:r>
              <a:rPr lang="en-US" dirty="0"/>
              <a:t>This program would allow not only for data to be collected through university students but also train them in climate vulnerability assessments. Readying them for future work.</a:t>
            </a:r>
          </a:p>
          <a:p>
            <a:r>
              <a:rPr lang="en-US" dirty="0"/>
              <a:t>It shifts a “top-down” planning approach into becoming a participatory governance framework.</a:t>
            </a:r>
          </a:p>
          <a:p>
            <a:r>
              <a:rPr lang="en-US" dirty="0"/>
              <a:t>Communities are no longer victims of change to be studied, they instead become active partners in generating the knowledge needed to protect their neighborhoods.</a:t>
            </a:r>
          </a:p>
          <a:p>
            <a:r>
              <a:rPr lang="en-US" dirty="0"/>
              <a:t>This framework is also scalable, as previously mentioned, a pilot project could start with the Universidad Latina in Panama City, and then expand nationally, to mobile students across the country to help monitor climate hazards and generate indicators for other parts of Panama.</a:t>
            </a:r>
          </a:p>
          <a:p>
            <a:r>
              <a:rPr lang="en-US" dirty="0"/>
              <a:t>. </a:t>
            </a:r>
          </a:p>
        </p:txBody>
      </p:sp>
      <p:sp>
        <p:nvSpPr>
          <p:cNvPr id="4" name="Slide Number Placeholder 3"/>
          <p:cNvSpPr>
            <a:spLocks noGrp="1"/>
          </p:cNvSpPr>
          <p:nvPr>
            <p:ph type="sldNum" sz="quarter" idx="5"/>
          </p:nvPr>
        </p:nvSpPr>
        <p:spPr/>
        <p:txBody>
          <a:bodyPr/>
          <a:lstStyle/>
          <a:p>
            <a:fld id="{E5CCB316-150E-C24E-9E65-65CEF9A1C8CB}" type="slidenum">
              <a:rPr lang="en-US" smtClean="0"/>
              <a:t>7</a:t>
            </a:fld>
            <a:endParaRPr lang="en-US"/>
          </a:p>
        </p:txBody>
      </p:sp>
    </p:spTree>
    <p:extLst>
      <p:ext uri="{BB962C8B-B14F-4D97-AF65-F5344CB8AC3E}">
        <p14:creationId xmlns:p14="http://schemas.microsoft.com/office/powerpoint/2010/main" val="29053795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97280" y="758952"/>
            <a:ext cx="10058400" cy="3566160"/>
          </a:xfrm>
        </p:spPr>
        <p:txBody>
          <a:bodyPr anchor="b">
            <a:normAutofit/>
          </a:bodyPr>
          <a:lstStyle>
            <a:lvl1pPr algn="ctr">
              <a:lnSpc>
                <a:spcPct val="85000"/>
              </a:lnSpc>
              <a:defRPr sz="8000" spc="-50" baseline="0">
                <a:solidFill>
                  <a:schemeClr val="tx1"/>
                </a:solidFill>
                <a:latin typeface="Arial Rounded MT Bold" panose="020F0704030504030204" pitchFamily="34" charset="77"/>
              </a:defRPr>
            </a:lvl1pPr>
          </a:lstStyle>
          <a:p>
            <a:r>
              <a:rPr lang="en-US" dirty="0"/>
              <a:t>Click to edit Master title style</a:t>
            </a:r>
          </a:p>
        </p:txBody>
      </p:sp>
      <p:sp>
        <p:nvSpPr>
          <p:cNvPr id="3" name="Subtitle 2"/>
          <p:cNvSpPr>
            <a:spLocks noGrp="1"/>
          </p:cNvSpPr>
          <p:nvPr>
            <p:ph type="subTitle" idx="1" hasCustomPrompt="1"/>
          </p:nvPr>
        </p:nvSpPr>
        <p:spPr>
          <a:xfrm>
            <a:off x="1100051" y="4455620"/>
            <a:ext cx="10058400" cy="1143000"/>
          </a:xfrm>
        </p:spPr>
        <p:txBody>
          <a:bodyPr lIns="91440" rIns="91440">
            <a:normAutofit/>
          </a:bodyPr>
          <a:lstStyle>
            <a:lvl1pPr marL="0" indent="0" algn="ctr">
              <a:buNone/>
              <a:defRPr sz="2400" cap="none" spc="200" baseline="0">
                <a:solidFill>
                  <a:schemeClr val="tx1"/>
                </a:solidFill>
                <a:latin typeface="Arial" panose="020B0604020202020204" pitchFamily="34" charset="0"/>
                <a:cs typeface="Arial" panose="020B0604020202020204"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err="1"/>
              <a:t>cLICK</a:t>
            </a:r>
            <a:r>
              <a:rPr lang="en-US" dirty="0"/>
              <a:t> TO EDIT </a:t>
            </a:r>
            <a:r>
              <a:rPr lang="en-US" dirty="0" err="1"/>
              <a:t>mASTER</a:t>
            </a:r>
            <a:r>
              <a:rPr lang="en-US" dirty="0"/>
              <a:t> SUBTITLE STYLE</a:t>
            </a:r>
          </a:p>
        </p:txBody>
      </p:sp>
      <p:sp>
        <p:nvSpPr>
          <p:cNvPr id="4" name="Date Placeholder 3"/>
          <p:cNvSpPr>
            <a:spLocks noGrp="1"/>
          </p:cNvSpPr>
          <p:nvPr>
            <p:ph type="dt" sz="half" idx="10"/>
          </p:nvPr>
        </p:nvSpPr>
        <p:spPr/>
        <p:txBody>
          <a:bodyPr/>
          <a:lstStyle/>
          <a:p>
            <a:fld id="{F6FB1D83-9FA2-4256-B0D1-B92865A43B24}"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0A497-4A04-4607-8605-D89F56710AF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A black circle with a logo and text&#10;&#10;Description automatically generated">
            <a:extLst>
              <a:ext uri="{FF2B5EF4-FFF2-40B4-BE49-F238E27FC236}">
                <a16:creationId xmlns:a16="http://schemas.microsoft.com/office/drawing/2014/main" id="{D60B5FAA-DD1F-FC67-B267-71F154ECFBFF}"/>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10952081" y="244134"/>
            <a:ext cx="963694" cy="963694"/>
          </a:xfrm>
          <a:prstGeom prst="rect">
            <a:avLst/>
          </a:prstGeom>
        </p:spPr>
      </p:pic>
    </p:spTree>
    <p:extLst>
      <p:ext uri="{BB962C8B-B14F-4D97-AF65-F5344CB8AC3E}">
        <p14:creationId xmlns:p14="http://schemas.microsoft.com/office/powerpoint/2010/main" val="316857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b="1">
                <a:solidFill>
                  <a:schemeClr val="tx1"/>
                </a:solidFill>
                <a:latin typeface="Arial Rounded MT Bold" panose="020F0704030504030204" pitchFamily="34" charset="77"/>
              </a:defRPr>
            </a:lvl1pPr>
          </a:lstStyle>
          <a:p>
            <a:r>
              <a:rPr lang="en-US" dirty="0"/>
              <a:t>Click to edit Master title style</a:t>
            </a:r>
          </a:p>
        </p:txBody>
      </p:sp>
      <p:sp>
        <p:nvSpPr>
          <p:cNvPr id="3" name="Content Placeholder 2"/>
          <p:cNvSpPr>
            <a:spLocks noGrp="1"/>
          </p:cNvSpPr>
          <p:nvPr>
            <p:ph idx="1"/>
          </p:nvPr>
        </p:nvSpPr>
        <p:spPr/>
        <p:txBody>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a:defRPr>
                <a:solidFill>
                  <a:schemeClr val="tx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6FB1D83-9FA2-4256-B0D1-B92865A43B24}"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0A497-4A04-4607-8605-D89F56710AF1}" type="slidenum">
              <a:rPr lang="en-US" smtClean="0"/>
              <a:t>‹#›</a:t>
            </a:fld>
            <a:endParaRPr lang="en-US"/>
          </a:p>
        </p:txBody>
      </p:sp>
      <p:pic>
        <p:nvPicPr>
          <p:cNvPr id="7" name="Picture 6" descr="A black circle with a logo and text&#10;&#10;Description automatically generated">
            <a:extLst>
              <a:ext uri="{FF2B5EF4-FFF2-40B4-BE49-F238E27FC236}">
                <a16:creationId xmlns:a16="http://schemas.microsoft.com/office/drawing/2014/main" id="{232BF61B-F9E0-F502-B423-3EDA76CE0A50}"/>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10952081" y="244134"/>
            <a:ext cx="963694" cy="963694"/>
          </a:xfrm>
          <a:prstGeom prst="rect">
            <a:avLst/>
          </a:prstGeom>
        </p:spPr>
      </p:pic>
    </p:spTree>
    <p:extLst>
      <p:ext uri="{BB962C8B-B14F-4D97-AF65-F5344CB8AC3E}">
        <p14:creationId xmlns:p14="http://schemas.microsoft.com/office/powerpoint/2010/main" val="344018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B1D83-9FA2-4256-B0D1-B92865A43B24}"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0A497-4A04-4607-8605-D89F56710AF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9763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6FB1D83-9FA2-4256-B0D1-B92865A43B24}" type="datetimeFigureOut">
              <a:rPr lang="en-US" smtClean="0"/>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0A497-4A04-4607-8605-D89F56710AF1}" type="slidenum">
              <a:rPr lang="en-US" smtClean="0"/>
              <a:t>‹#›</a:t>
            </a:fld>
            <a:endParaRPr lang="en-US"/>
          </a:p>
        </p:txBody>
      </p:sp>
    </p:spTree>
    <p:extLst>
      <p:ext uri="{BB962C8B-B14F-4D97-AF65-F5344CB8AC3E}">
        <p14:creationId xmlns:p14="http://schemas.microsoft.com/office/powerpoint/2010/main" val="3149784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6FB1D83-9FA2-4256-B0D1-B92865A43B24}" type="datetimeFigureOut">
              <a:rPr lang="en-US" smtClean="0"/>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10A497-4A04-4607-8605-D89F56710AF1}" type="slidenum">
              <a:rPr lang="en-US" smtClean="0"/>
              <a:t>‹#›</a:t>
            </a:fld>
            <a:endParaRPr lang="en-US"/>
          </a:p>
        </p:txBody>
      </p:sp>
    </p:spTree>
    <p:extLst>
      <p:ext uri="{BB962C8B-B14F-4D97-AF65-F5344CB8AC3E}">
        <p14:creationId xmlns:p14="http://schemas.microsoft.com/office/powerpoint/2010/main" val="1064416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6FB1D83-9FA2-4256-B0D1-B92865A43B24}" type="datetimeFigureOut">
              <a:rPr lang="en-US" smtClean="0"/>
              <a:t>11/16/25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10A497-4A04-4607-8605-D89F56710AF1}" type="slidenum">
              <a:rPr lang="en-US" smtClean="0"/>
              <a:t>‹#›</a:t>
            </a:fld>
            <a:endParaRPr lang="en-US"/>
          </a:p>
        </p:txBody>
      </p:sp>
    </p:spTree>
    <p:extLst>
      <p:ext uri="{BB962C8B-B14F-4D97-AF65-F5344CB8AC3E}">
        <p14:creationId xmlns:p14="http://schemas.microsoft.com/office/powerpoint/2010/main" val="29461326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6FB1D83-9FA2-4256-B0D1-B92865A43B24}" type="datetimeFigureOut">
              <a:rPr lang="en-US" smtClean="0"/>
              <a:t>11/16/25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3510A497-4A04-4607-8605-D89F56710AF1}" type="slidenum">
              <a:rPr lang="en-US" smtClean="0"/>
              <a:t>‹#›</a:t>
            </a:fld>
            <a:endParaRPr lang="en-US"/>
          </a:p>
        </p:txBody>
      </p:sp>
    </p:spTree>
    <p:extLst>
      <p:ext uri="{BB962C8B-B14F-4D97-AF65-F5344CB8AC3E}">
        <p14:creationId xmlns:p14="http://schemas.microsoft.com/office/powerpoint/2010/main" val="1794784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6FB1D83-9FA2-4256-B0D1-B92865A43B24}" type="datetimeFigureOut">
              <a:rPr lang="en-US" smtClean="0"/>
              <a:t>11/16/25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510A497-4A04-4607-8605-D89F56710AF1}" type="slidenum">
              <a:rPr lang="en-US" smtClean="0"/>
              <a:t>‹#›</a:t>
            </a:fld>
            <a:endParaRPr lang="en-US"/>
          </a:p>
        </p:txBody>
      </p:sp>
    </p:spTree>
    <p:extLst>
      <p:ext uri="{BB962C8B-B14F-4D97-AF65-F5344CB8AC3E}">
        <p14:creationId xmlns:p14="http://schemas.microsoft.com/office/powerpoint/2010/main" val="3342404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FB1D83-9FA2-4256-B0D1-B92865A43B24}" type="datetimeFigureOut">
              <a:rPr lang="en-US" smtClean="0"/>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10A497-4A04-4607-8605-D89F56710AF1}" type="slidenum">
              <a:rPr lang="en-US" smtClean="0"/>
              <a:t>‹#›</a:t>
            </a:fld>
            <a:endParaRPr lang="en-US"/>
          </a:p>
        </p:txBody>
      </p:sp>
    </p:spTree>
    <p:extLst>
      <p:ext uri="{BB962C8B-B14F-4D97-AF65-F5344CB8AC3E}">
        <p14:creationId xmlns:p14="http://schemas.microsoft.com/office/powerpoint/2010/main" val="364161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FB1D83-9FA2-4256-B0D1-B92865A43B24}"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0A497-4A04-4607-8605-D89F56710AF1}" type="slidenum">
              <a:rPr lang="en-US" smtClean="0"/>
              <a:t>‹#›</a:t>
            </a:fld>
            <a:endParaRPr lang="en-US"/>
          </a:p>
        </p:txBody>
      </p:sp>
    </p:spTree>
    <p:extLst>
      <p:ext uri="{BB962C8B-B14F-4D97-AF65-F5344CB8AC3E}">
        <p14:creationId xmlns:p14="http://schemas.microsoft.com/office/powerpoint/2010/main" val="127870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6FB1D83-9FA2-4256-B0D1-B92865A43B24}"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10A497-4A04-4607-8605-D89F56710AF1}" type="slidenum">
              <a:rPr lang="en-US" smtClean="0"/>
              <a:t>‹#›</a:t>
            </a:fld>
            <a:endParaRPr lang="en-US"/>
          </a:p>
        </p:txBody>
      </p:sp>
    </p:spTree>
    <p:extLst>
      <p:ext uri="{BB962C8B-B14F-4D97-AF65-F5344CB8AC3E}">
        <p14:creationId xmlns:p14="http://schemas.microsoft.com/office/powerpoint/2010/main" val="36920145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6FB1D83-9FA2-4256-B0D1-B92865A43B24}" type="datetimeFigureOut">
              <a:rPr lang="en-US" smtClean="0"/>
              <a:t>11/16/25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3510A497-4A04-4607-8605-D89F56710AF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049351"/>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3CDA6-FAB7-C34A-61F6-6685ED6B991D}"/>
              </a:ext>
            </a:extLst>
          </p:cNvPr>
          <p:cNvSpPr>
            <a:spLocks noGrp="1"/>
          </p:cNvSpPr>
          <p:nvPr>
            <p:ph type="ctrTitle"/>
          </p:nvPr>
        </p:nvSpPr>
        <p:spPr/>
        <p:txBody>
          <a:bodyPr>
            <a:normAutofit/>
          </a:bodyPr>
          <a:lstStyle/>
          <a:p>
            <a:pPr algn="ctr"/>
            <a:r>
              <a:rPr lang="en-US" sz="6000" dirty="0"/>
              <a:t>Bridging Panama’s Climate Data Gap Through Academic Institutions</a:t>
            </a:r>
          </a:p>
        </p:txBody>
      </p:sp>
      <p:sp>
        <p:nvSpPr>
          <p:cNvPr id="3" name="Subtitle 2">
            <a:extLst>
              <a:ext uri="{FF2B5EF4-FFF2-40B4-BE49-F238E27FC236}">
                <a16:creationId xmlns:a16="http://schemas.microsoft.com/office/drawing/2014/main" id="{30F47376-BCEC-6DB0-9319-E25EB1BE1953}"/>
              </a:ext>
            </a:extLst>
          </p:cNvPr>
          <p:cNvSpPr>
            <a:spLocks noGrp="1"/>
          </p:cNvSpPr>
          <p:nvPr>
            <p:ph type="subTitle" idx="1"/>
          </p:nvPr>
        </p:nvSpPr>
        <p:spPr/>
        <p:txBody>
          <a:bodyPr>
            <a:noAutofit/>
          </a:bodyPr>
          <a:lstStyle/>
          <a:p>
            <a:pPr algn="ctr"/>
            <a:r>
              <a:rPr lang="en-US" sz="1500" spc="0" dirty="0"/>
              <a:t>Tomás Schmieder, </a:t>
            </a:r>
            <a:r>
              <a:rPr lang="en-US" sz="1500" i="1" spc="0" dirty="0"/>
              <a:t>B.S. Environmental Engineering, May 2026</a:t>
            </a:r>
          </a:p>
          <a:p>
            <a:pPr algn="ctr"/>
            <a:r>
              <a:rPr lang="en-US" sz="1500" spc="0" dirty="0"/>
              <a:t>CRP 3545 – Proposal Presentation</a:t>
            </a:r>
          </a:p>
          <a:p>
            <a:pPr algn="ctr"/>
            <a:r>
              <a:rPr lang="en-US" sz="1500" spc="0" dirty="0"/>
              <a:t>November 17th, 2025</a:t>
            </a:r>
          </a:p>
        </p:txBody>
      </p:sp>
      <p:pic>
        <p:nvPicPr>
          <p:cNvPr id="1028" name="Picture 4" descr="Brand Guidelines | Cornell AAP">
            <a:extLst>
              <a:ext uri="{FF2B5EF4-FFF2-40B4-BE49-F238E27FC236}">
                <a16:creationId xmlns:a16="http://schemas.microsoft.com/office/drawing/2014/main" id="{A6FAFF41-F273-A867-5765-1AA729EF0981}"/>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1752"/>
                    </a14:imgEffect>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53665" y="336089"/>
            <a:ext cx="3173018" cy="84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8628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27EE0-FC49-53AA-35E0-AD60CE9113B2}"/>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896F0ED1-6381-9E03-2AE1-E2CAC8BAF1D7}"/>
              </a:ext>
            </a:extLst>
          </p:cNvPr>
          <p:cNvSpPr>
            <a:spLocks noGrp="1"/>
          </p:cNvSpPr>
          <p:nvPr>
            <p:ph idx="1"/>
          </p:nvPr>
        </p:nvSpPr>
        <p:spPr/>
        <p:txBody>
          <a:bodyPr/>
          <a:lstStyle/>
          <a:p>
            <a:r>
              <a:rPr lang="en-US" dirty="0"/>
              <a:t>Panama City has positioned itself as a regional hub for the world’s economy. Its foundation is fragile. As a tropical, low-lying coastal city, it is highly vulnerable to floods, landslides, and extreme weather events. As it’s positioned itself as a developing country, it is constrained by climate adaptation efforts, due to two key failures</a:t>
            </a:r>
            <a:r>
              <a:rPr lang="en-US" b="1" dirty="0"/>
              <a:t>, institutional fragmentation</a:t>
            </a:r>
            <a:r>
              <a:rPr lang="en-US" dirty="0"/>
              <a:t> and </a:t>
            </a:r>
            <a:r>
              <a:rPr lang="en-US" b="1" dirty="0"/>
              <a:t>critical data deficits.</a:t>
            </a:r>
            <a:endParaRPr lang="en-US" dirty="0"/>
          </a:p>
        </p:txBody>
      </p:sp>
      <p:pic>
        <p:nvPicPr>
          <p:cNvPr id="4098" name="Picture 2" descr="A Traveller's Guide to Panama | Goway Travel">
            <a:extLst>
              <a:ext uri="{FF2B5EF4-FFF2-40B4-BE49-F238E27FC236}">
                <a16:creationId xmlns:a16="http://schemas.microsoft.com/office/drawing/2014/main" id="{D03437B2-4AF5-8C0B-0C0A-0EB684E8EC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184" r="12537" b="35268"/>
          <a:stretch>
            <a:fillRect/>
          </a:stretch>
        </p:blipFill>
        <p:spPr bwMode="auto">
          <a:xfrm>
            <a:off x="1168998" y="3429000"/>
            <a:ext cx="7016680" cy="28608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Panama - Traveler view | Travelers' Health | CDC">
            <a:extLst>
              <a:ext uri="{FF2B5EF4-FFF2-40B4-BE49-F238E27FC236}">
                <a16:creationId xmlns:a16="http://schemas.microsoft.com/office/drawing/2014/main" id="{25E119FE-4037-B863-1F5C-4F7461A10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9114" y="3391516"/>
            <a:ext cx="2898284" cy="2898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452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D4A60-8950-6052-FA54-6650B9031010}"/>
              </a:ext>
            </a:extLst>
          </p:cNvPr>
          <p:cNvSpPr>
            <a:spLocks noGrp="1"/>
          </p:cNvSpPr>
          <p:nvPr>
            <p:ph type="title"/>
          </p:nvPr>
        </p:nvSpPr>
        <p:spPr>
          <a:xfrm>
            <a:off x="1114865" y="286603"/>
            <a:ext cx="10058400" cy="1450757"/>
          </a:xfrm>
        </p:spPr>
        <p:txBody>
          <a:bodyPr/>
          <a:lstStyle/>
          <a:p>
            <a:r>
              <a:rPr lang="en-US" dirty="0"/>
              <a:t>The climate data gap</a:t>
            </a:r>
          </a:p>
        </p:txBody>
      </p:sp>
      <p:sp>
        <p:nvSpPr>
          <p:cNvPr id="3" name="Content Placeholder 2">
            <a:extLst>
              <a:ext uri="{FF2B5EF4-FFF2-40B4-BE49-F238E27FC236}">
                <a16:creationId xmlns:a16="http://schemas.microsoft.com/office/drawing/2014/main" id="{2553276C-54F0-5776-7EA4-F9EF2AAEE98A}"/>
              </a:ext>
            </a:extLst>
          </p:cNvPr>
          <p:cNvSpPr>
            <a:spLocks noGrp="1"/>
          </p:cNvSpPr>
          <p:nvPr>
            <p:ph idx="1"/>
          </p:nvPr>
        </p:nvSpPr>
        <p:spPr/>
        <p:txBody>
          <a:bodyPr>
            <a:normAutofit/>
          </a:bodyPr>
          <a:lstStyle/>
          <a:p>
            <a:r>
              <a:rPr lang="en-US" dirty="0"/>
              <a:t>A 2022 evaluation of Panama’s </a:t>
            </a:r>
            <a:r>
              <a:rPr lang="en-US" dirty="0" err="1"/>
              <a:t>MiAmbiente</a:t>
            </a:r>
            <a:r>
              <a:rPr lang="en-US" dirty="0"/>
              <a:t> (Ministry of Environment) official Monitoring and Evaluation (M&amp;E) system for climate adaptation was conducted by the Initiative for Climate Action Transparency (ICAT), finding that the current framework is non-functional.</a:t>
            </a:r>
          </a:p>
          <a:p>
            <a:r>
              <a:rPr lang="en-US" dirty="0"/>
              <a:t>The framework consists of 21 climate indicators, but within the data of these indicators, the data was analyzed to be,</a:t>
            </a:r>
          </a:p>
          <a:p>
            <a:pPr marL="457200" indent="-457200">
              <a:buFont typeface="+mj-lt"/>
              <a:buAutoNum type="arabicPeriod"/>
            </a:pPr>
            <a:r>
              <a:rPr lang="en-US" b="1" dirty="0"/>
              <a:t>Fragmented</a:t>
            </a:r>
            <a:r>
              <a:rPr lang="en-US" dirty="0"/>
              <a:t>: Data is siloed across 17 uncoordinated institutions,</a:t>
            </a:r>
          </a:p>
          <a:p>
            <a:pPr marL="457200" indent="-457200">
              <a:buFont typeface="+mj-lt"/>
              <a:buAutoNum type="arabicPeriod"/>
            </a:pPr>
            <a:r>
              <a:rPr lang="en-US" b="1" dirty="0"/>
              <a:t>Confusing</a:t>
            </a:r>
            <a:r>
              <a:rPr lang="en-US" dirty="0"/>
              <a:t>: 52% of the indicators have critical “data specificity” issues, providers are unclear on what to measure, </a:t>
            </a:r>
          </a:p>
          <a:p>
            <a:pPr marL="457200" indent="-457200">
              <a:buFont typeface="+mj-lt"/>
              <a:buAutoNum type="arabicPeriod"/>
            </a:pPr>
            <a:r>
              <a:rPr lang="en-US" b="1" dirty="0"/>
              <a:t>Exclusive</a:t>
            </a:r>
            <a:r>
              <a:rPr lang="en-US" dirty="0"/>
              <a:t>: None of the data for the indicators are generated by local communities, relying solely on top-down sources.</a:t>
            </a:r>
          </a:p>
        </p:txBody>
      </p:sp>
      <p:pic>
        <p:nvPicPr>
          <p:cNvPr id="4" name="Picture 4" descr="Zimbabwe on track to better climate action transparency">
            <a:extLst>
              <a:ext uri="{FF2B5EF4-FFF2-40B4-BE49-F238E27FC236}">
                <a16:creationId xmlns:a16="http://schemas.microsoft.com/office/drawing/2014/main" id="{19104C4F-2307-017B-33B2-51A95F6324B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226" t="25377" r="10274" b="24331"/>
          <a:stretch>
            <a:fillRect/>
          </a:stretch>
        </p:blipFill>
        <p:spPr bwMode="auto">
          <a:xfrm>
            <a:off x="7837366" y="5240186"/>
            <a:ext cx="4197638" cy="900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981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E75DD-7C3B-7ED7-580E-1DA35BE0C443}"/>
              </a:ext>
            </a:extLst>
          </p:cNvPr>
          <p:cNvSpPr>
            <a:spLocks noGrp="1"/>
          </p:cNvSpPr>
          <p:nvPr>
            <p:ph type="title"/>
          </p:nvPr>
        </p:nvSpPr>
        <p:spPr/>
        <p:txBody>
          <a:bodyPr/>
          <a:lstStyle/>
          <a:p>
            <a:r>
              <a:rPr lang="en-US" dirty="0"/>
              <a:t>Why the data gap is a problem</a:t>
            </a:r>
          </a:p>
        </p:txBody>
      </p:sp>
      <p:sp>
        <p:nvSpPr>
          <p:cNvPr id="3" name="Content Placeholder 2">
            <a:extLst>
              <a:ext uri="{FF2B5EF4-FFF2-40B4-BE49-F238E27FC236}">
                <a16:creationId xmlns:a16="http://schemas.microsoft.com/office/drawing/2014/main" id="{E43B060C-F576-30E8-0502-D3FFDC9E697E}"/>
              </a:ext>
            </a:extLst>
          </p:cNvPr>
          <p:cNvSpPr>
            <a:spLocks noGrp="1"/>
          </p:cNvSpPr>
          <p:nvPr>
            <p:ph idx="1"/>
          </p:nvPr>
        </p:nvSpPr>
        <p:spPr>
          <a:xfrm>
            <a:off x="1097280" y="1845734"/>
            <a:ext cx="10058400" cy="4023360"/>
          </a:xfrm>
        </p:spPr>
        <p:txBody>
          <a:bodyPr/>
          <a:lstStyle/>
          <a:p>
            <a:r>
              <a:rPr lang="en-US" dirty="0"/>
              <a:t>Without functional indicators, adaptation planning is unable to move forward, withholding progress in areas such as,</a:t>
            </a:r>
          </a:p>
        </p:txBody>
      </p:sp>
      <p:sp>
        <p:nvSpPr>
          <p:cNvPr id="4" name="Rounded Rectangle 3">
            <a:extLst>
              <a:ext uri="{FF2B5EF4-FFF2-40B4-BE49-F238E27FC236}">
                <a16:creationId xmlns:a16="http://schemas.microsoft.com/office/drawing/2014/main" id="{7B7B7145-5A20-7F0C-2F76-EF5C3F177B63}"/>
              </a:ext>
            </a:extLst>
          </p:cNvPr>
          <p:cNvSpPr/>
          <p:nvPr/>
        </p:nvSpPr>
        <p:spPr>
          <a:xfrm>
            <a:off x="4918953" y="2729332"/>
            <a:ext cx="2354094" cy="9079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Climate Data</a:t>
            </a:r>
          </a:p>
        </p:txBody>
      </p:sp>
      <p:sp>
        <p:nvSpPr>
          <p:cNvPr id="9" name="Rounded Rectangle 8">
            <a:extLst>
              <a:ext uri="{FF2B5EF4-FFF2-40B4-BE49-F238E27FC236}">
                <a16:creationId xmlns:a16="http://schemas.microsoft.com/office/drawing/2014/main" id="{A04055F4-C65E-B387-863A-78D9ED897201}"/>
              </a:ext>
            </a:extLst>
          </p:cNvPr>
          <p:cNvSpPr/>
          <p:nvPr/>
        </p:nvSpPr>
        <p:spPr>
          <a:xfrm>
            <a:off x="1831070" y="4849940"/>
            <a:ext cx="2354094" cy="9079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Resource Allocation</a:t>
            </a:r>
          </a:p>
        </p:txBody>
      </p:sp>
      <p:sp>
        <p:nvSpPr>
          <p:cNvPr id="10" name="Rounded Rectangle 9">
            <a:extLst>
              <a:ext uri="{FF2B5EF4-FFF2-40B4-BE49-F238E27FC236}">
                <a16:creationId xmlns:a16="http://schemas.microsoft.com/office/drawing/2014/main" id="{42637DFC-19AA-1798-FDC9-FD8C9ECF43F0}"/>
              </a:ext>
            </a:extLst>
          </p:cNvPr>
          <p:cNvSpPr/>
          <p:nvPr/>
        </p:nvSpPr>
        <p:spPr>
          <a:xfrm>
            <a:off x="4918953" y="4849940"/>
            <a:ext cx="2354094" cy="9079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Financial Assistance</a:t>
            </a:r>
          </a:p>
        </p:txBody>
      </p:sp>
      <p:sp>
        <p:nvSpPr>
          <p:cNvPr id="11" name="Rounded Rectangle 10">
            <a:extLst>
              <a:ext uri="{FF2B5EF4-FFF2-40B4-BE49-F238E27FC236}">
                <a16:creationId xmlns:a16="http://schemas.microsoft.com/office/drawing/2014/main" id="{D1EE41AE-2308-73AA-513F-B27E5CA9C184}"/>
              </a:ext>
            </a:extLst>
          </p:cNvPr>
          <p:cNvSpPr/>
          <p:nvPr/>
        </p:nvSpPr>
        <p:spPr>
          <a:xfrm>
            <a:off x="8006836" y="4849940"/>
            <a:ext cx="2354094" cy="9079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Proactive Planning</a:t>
            </a:r>
          </a:p>
        </p:txBody>
      </p:sp>
      <p:cxnSp>
        <p:nvCxnSpPr>
          <p:cNvPr id="20" name="Straight Arrow Connector 19">
            <a:extLst>
              <a:ext uri="{FF2B5EF4-FFF2-40B4-BE49-F238E27FC236}">
                <a16:creationId xmlns:a16="http://schemas.microsoft.com/office/drawing/2014/main" id="{8CD096C9-D2FB-0823-F294-4F48516B5175}"/>
              </a:ext>
            </a:extLst>
          </p:cNvPr>
          <p:cNvCxnSpPr>
            <a:cxnSpLocks/>
            <a:endCxn id="9" idx="0"/>
          </p:cNvCxnSpPr>
          <p:nvPr/>
        </p:nvCxnSpPr>
        <p:spPr>
          <a:xfrm>
            <a:off x="3008117" y="4441371"/>
            <a:ext cx="0" cy="408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a:extLst>
              <a:ext uri="{FF2B5EF4-FFF2-40B4-BE49-F238E27FC236}">
                <a16:creationId xmlns:a16="http://schemas.microsoft.com/office/drawing/2014/main" id="{2767C8FF-A149-3D93-A31D-428FCE21E673}"/>
              </a:ext>
            </a:extLst>
          </p:cNvPr>
          <p:cNvCxnSpPr>
            <a:cxnSpLocks/>
          </p:cNvCxnSpPr>
          <p:nvPr/>
        </p:nvCxnSpPr>
        <p:spPr>
          <a:xfrm>
            <a:off x="6096000" y="4441371"/>
            <a:ext cx="0" cy="408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a:extLst>
              <a:ext uri="{FF2B5EF4-FFF2-40B4-BE49-F238E27FC236}">
                <a16:creationId xmlns:a16="http://schemas.microsoft.com/office/drawing/2014/main" id="{74687768-9040-A58B-FB3D-F0A2BABA5DA0}"/>
              </a:ext>
            </a:extLst>
          </p:cNvPr>
          <p:cNvCxnSpPr>
            <a:cxnSpLocks/>
          </p:cNvCxnSpPr>
          <p:nvPr/>
        </p:nvCxnSpPr>
        <p:spPr>
          <a:xfrm>
            <a:off x="9300117" y="4441370"/>
            <a:ext cx="0" cy="408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23337182-F25E-8F1C-715E-FED06E9EE1A8}"/>
              </a:ext>
            </a:extLst>
          </p:cNvPr>
          <p:cNvCxnSpPr>
            <a:cxnSpLocks/>
          </p:cNvCxnSpPr>
          <p:nvPr/>
        </p:nvCxnSpPr>
        <p:spPr>
          <a:xfrm flipV="1">
            <a:off x="3001767" y="4444334"/>
            <a:ext cx="6300216"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a:extLst>
              <a:ext uri="{FF2B5EF4-FFF2-40B4-BE49-F238E27FC236}">
                <a16:creationId xmlns:a16="http://schemas.microsoft.com/office/drawing/2014/main" id="{28E99797-C6F8-2F25-A2E2-E0B17E9E27D6}"/>
              </a:ext>
            </a:extLst>
          </p:cNvPr>
          <p:cNvCxnSpPr>
            <a:cxnSpLocks/>
            <a:stCxn id="4" idx="2"/>
          </p:cNvCxnSpPr>
          <p:nvPr/>
        </p:nvCxnSpPr>
        <p:spPr>
          <a:xfrm>
            <a:off x="6096000" y="3637320"/>
            <a:ext cx="0" cy="262295"/>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4441DC9B-32A7-EFE1-10DC-E339094CFB1B}"/>
              </a:ext>
            </a:extLst>
          </p:cNvPr>
          <p:cNvCxnSpPr>
            <a:cxnSpLocks/>
          </p:cNvCxnSpPr>
          <p:nvPr/>
        </p:nvCxnSpPr>
        <p:spPr>
          <a:xfrm>
            <a:off x="6096000" y="4119920"/>
            <a:ext cx="0" cy="32145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6400681D-4101-4495-0724-7570C9387008}"/>
              </a:ext>
            </a:extLst>
          </p:cNvPr>
          <p:cNvCxnSpPr>
            <a:cxnSpLocks/>
          </p:cNvCxnSpPr>
          <p:nvPr/>
        </p:nvCxnSpPr>
        <p:spPr>
          <a:xfrm>
            <a:off x="5756275" y="4125040"/>
            <a:ext cx="67945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CC3F656-FB9E-0AF7-B276-1941FD8095C1}"/>
              </a:ext>
            </a:extLst>
          </p:cNvPr>
          <p:cNvCxnSpPr>
            <a:cxnSpLocks/>
          </p:cNvCxnSpPr>
          <p:nvPr/>
        </p:nvCxnSpPr>
        <p:spPr>
          <a:xfrm>
            <a:off x="5756275" y="3899615"/>
            <a:ext cx="679450" cy="0"/>
          </a:xfrm>
          <a:prstGeom prst="line">
            <a:avLst/>
          </a:prstGeom>
        </p:spPr>
        <p:style>
          <a:lnRef idx="1">
            <a:schemeClr val="accent1"/>
          </a:lnRef>
          <a:fillRef idx="0">
            <a:schemeClr val="accent1"/>
          </a:fillRef>
          <a:effectRef idx="0">
            <a:schemeClr val="accent1"/>
          </a:effectRef>
          <a:fontRef idx="minor">
            <a:schemeClr val="tx1"/>
          </a:fontRef>
        </p:style>
      </p:cxnSp>
      <p:pic>
        <p:nvPicPr>
          <p:cNvPr id="56" name="Picture 55">
            <a:extLst>
              <a:ext uri="{FF2B5EF4-FFF2-40B4-BE49-F238E27FC236}">
                <a16:creationId xmlns:a16="http://schemas.microsoft.com/office/drawing/2014/main" id="{1A877F21-8771-90C7-E4A9-362A3F6B0A82}"/>
              </a:ext>
            </a:extLst>
          </p:cNvPr>
          <p:cNvPicPr>
            <a:picLocks noChangeAspect="1"/>
          </p:cNvPicPr>
          <p:nvPr/>
        </p:nvPicPr>
        <p:blipFill>
          <a:blip r:embed="rId3"/>
          <a:stretch>
            <a:fillRect/>
          </a:stretch>
        </p:blipFill>
        <p:spPr>
          <a:xfrm>
            <a:off x="7575170" y="3429000"/>
            <a:ext cx="0" cy="0"/>
          </a:xfrm>
          <a:prstGeom prst="rect">
            <a:avLst/>
          </a:prstGeom>
        </p:spPr>
      </p:pic>
      <p:pic>
        <p:nvPicPr>
          <p:cNvPr id="7176" name="Picture 8">
            <a:extLst>
              <a:ext uri="{FF2B5EF4-FFF2-40B4-BE49-F238E27FC236}">
                <a16:creationId xmlns:a16="http://schemas.microsoft.com/office/drawing/2014/main" id="{9C0AC79F-6466-595E-C9D2-1726E9DE7C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44239" y="3073937"/>
            <a:ext cx="1891990" cy="1064244"/>
          </a:xfrm>
          <a:prstGeom prst="rect">
            <a:avLst/>
          </a:prstGeom>
          <a:noFill/>
          <a:extLst>
            <a:ext uri="{909E8E84-426E-40DD-AFC4-6F175D3DCCD1}">
              <a14:hiddenFill xmlns:a14="http://schemas.microsoft.com/office/drawing/2010/main">
                <a:solidFill>
                  <a:srgbClr val="FFFFFF"/>
                </a:solidFill>
              </a14:hiddenFill>
            </a:ext>
          </a:extLst>
        </p:spPr>
      </p:pic>
      <p:pic>
        <p:nvPicPr>
          <p:cNvPr id="7178" name="Picture 10" descr="AdaptationFund - YouTube">
            <a:extLst>
              <a:ext uri="{FF2B5EF4-FFF2-40B4-BE49-F238E27FC236}">
                <a16:creationId xmlns:a16="http://schemas.microsoft.com/office/drawing/2014/main" id="{859C7E30-1A35-EDE6-31E8-4495205076A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0384" b="23734"/>
          <a:stretch>
            <a:fillRect/>
          </a:stretch>
        </p:blipFill>
        <p:spPr bwMode="auto">
          <a:xfrm>
            <a:off x="10040051" y="3108683"/>
            <a:ext cx="1891991" cy="1057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5460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C2FF5-C2F6-4C1B-49B8-7F335BCBA5B8}"/>
              </a:ext>
            </a:extLst>
          </p:cNvPr>
          <p:cNvSpPr>
            <a:spLocks noGrp="1"/>
          </p:cNvSpPr>
          <p:nvPr>
            <p:ph type="title"/>
          </p:nvPr>
        </p:nvSpPr>
        <p:spPr>
          <a:xfrm>
            <a:off x="1097280" y="286603"/>
            <a:ext cx="10295650" cy="1450757"/>
          </a:xfrm>
        </p:spPr>
        <p:txBody>
          <a:bodyPr/>
          <a:lstStyle/>
          <a:p>
            <a:r>
              <a:rPr lang="en-US" dirty="0"/>
              <a:t>Closing the gap</a:t>
            </a:r>
          </a:p>
        </p:txBody>
      </p:sp>
      <p:sp>
        <p:nvSpPr>
          <p:cNvPr id="3" name="Content Placeholder 2">
            <a:extLst>
              <a:ext uri="{FF2B5EF4-FFF2-40B4-BE49-F238E27FC236}">
                <a16:creationId xmlns:a16="http://schemas.microsoft.com/office/drawing/2014/main" id="{9A4E1D8E-3F22-FE8D-F4BE-293263F9BE1F}"/>
              </a:ext>
            </a:extLst>
          </p:cNvPr>
          <p:cNvSpPr>
            <a:spLocks noGrp="1"/>
          </p:cNvSpPr>
          <p:nvPr>
            <p:ph idx="1"/>
          </p:nvPr>
        </p:nvSpPr>
        <p:spPr/>
        <p:txBody>
          <a:bodyPr/>
          <a:lstStyle/>
          <a:p>
            <a:r>
              <a:rPr lang="en-US" dirty="0"/>
              <a:t>It’s clear that we need a way to create a reliable pipeline for functional, community-verified climate indicators.</a:t>
            </a:r>
          </a:p>
          <a:p>
            <a:r>
              <a:rPr lang="en-US" dirty="0"/>
              <a:t>To do this a formal partnership is proposed between, the Ministry of the Environment and Panama’s Universities to establish a </a:t>
            </a:r>
            <a:r>
              <a:rPr lang="en-US" b="1" dirty="0"/>
              <a:t>University Climate Observatory</a:t>
            </a:r>
            <a:r>
              <a:rPr lang="en-US" dirty="0"/>
              <a:t>, a program where students are trained to conduct the exact vulnerability assessments and community monitoring needed to close the data gap.</a:t>
            </a:r>
          </a:p>
        </p:txBody>
      </p:sp>
      <p:pic>
        <p:nvPicPr>
          <p:cNvPr id="5122" name="Picture 2">
            <a:extLst>
              <a:ext uri="{FF2B5EF4-FFF2-40B4-BE49-F238E27FC236}">
                <a16:creationId xmlns:a16="http://schemas.microsoft.com/office/drawing/2014/main" id="{0088B215-B1FD-E6F5-979A-834F2970B7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024" b="20649"/>
          <a:stretch>
            <a:fillRect/>
          </a:stretch>
        </p:blipFill>
        <p:spPr bwMode="auto">
          <a:xfrm>
            <a:off x="1097280" y="4195301"/>
            <a:ext cx="5067915" cy="10414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Portal Estudiante">
            <a:extLst>
              <a:ext uri="{FF2B5EF4-FFF2-40B4-BE49-F238E27FC236}">
                <a16:creationId xmlns:a16="http://schemas.microsoft.com/office/drawing/2014/main" id="{A822BC04-F185-27E3-302B-3A86AA57E6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3229" y="3857414"/>
            <a:ext cx="4555824" cy="1655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5170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D4AA8-DA66-292B-B5E3-456425AC5C87}"/>
              </a:ext>
            </a:extLst>
          </p:cNvPr>
          <p:cNvSpPr>
            <a:spLocks noGrp="1"/>
          </p:cNvSpPr>
          <p:nvPr>
            <p:ph type="title"/>
          </p:nvPr>
        </p:nvSpPr>
        <p:spPr>
          <a:xfrm>
            <a:off x="1079695" y="286603"/>
            <a:ext cx="10058400" cy="1450757"/>
          </a:xfrm>
        </p:spPr>
        <p:txBody>
          <a:bodyPr/>
          <a:lstStyle/>
          <a:p>
            <a:r>
              <a:rPr lang="en-US" dirty="0"/>
              <a:t>Implementation: The University Climate Observatory Framework</a:t>
            </a:r>
          </a:p>
        </p:txBody>
      </p:sp>
      <p:sp>
        <p:nvSpPr>
          <p:cNvPr id="3" name="Content Placeholder 2">
            <a:extLst>
              <a:ext uri="{FF2B5EF4-FFF2-40B4-BE49-F238E27FC236}">
                <a16:creationId xmlns:a16="http://schemas.microsoft.com/office/drawing/2014/main" id="{8EAD9392-9506-7862-6491-209EEC0ED813}"/>
              </a:ext>
            </a:extLst>
          </p:cNvPr>
          <p:cNvSpPr>
            <a:spLocks noGrp="1"/>
          </p:cNvSpPr>
          <p:nvPr>
            <p:ph idx="1"/>
          </p:nvPr>
        </p:nvSpPr>
        <p:spPr>
          <a:xfrm>
            <a:off x="1204284" y="1845734"/>
            <a:ext cx="10058400" cy="4023360"/>
          </a:xfrm>
        </p:spPr>
        <p:txBody>
          <a:bodyPr/>
          <a:lstStyle/>
          <a:p>
            <a:pPr marL="0" indent="0">
              <a:buNone/>
            </a:pPr>
            <a:r>
              <a:rPr lang="en-US" dirty="0"/>
              <a:t>To implement this framework, we propose to align a current universities mandate with a critical national need, </a:t>
            </a:r>
          </a:p>
          <a:p>
            <a:pPr lvl="1">
              <a:buFont typeface="Arial" panose="020B0604020202020204" pitchFamily="34" charset="0"/>
              <a:buChar char="•"/>
            </a:pPr>
            <a:r>
              <a:rPr lang="en-US" dirty="0"/>
              <a:t>The Latin University of Panama, has an existing constitution, article 301, acting as a regulation and requirement for students to </a:t>
            </a:r>
            <a:r>
              <a:rPr lang="en-US" b="1" dirty="0"/>
              <a:t>perform 100 hours of community service</a:t>
            </a:r>
            <a:r>
              <a:rPr lang="en-US" dirty="0"/>
              <a:t> or </a:t>
            </a:r>
            <a:r>
              <a:rPr lang="en-US" dirty="0" err="1"/>
              <a:t>Trabajo</a:t>
            </a:r>
            <a:r>
              <a:rPr lang="en-US" dirty="0"/>
              <a:t> </a:t>
            </a:r>
            <a:r>
              <a:rPr lang="en-US" dirty="0" err="1"/>
              <a:t>Comunal</a:t>
            </a:r>
            <a:r>
              <a:rPr lang="en-US" dirty="0"/>
              <a:t> </a:t>
            </a:r>
            <a:r>
              <a:rPr lang="en-US" dirty="0" err="1"/>
              <a:t>Universtiario</a:t>
            </a:r>
            <a:r>
              <a:rPr lang="en-US" dirty="0"/>
              <a:t> (TCU). </a:t>
            </a:r>
          </a:p>
          <a:p>
            <a:pPr lvl="1">
              <a:buFont typeface="Arial" panose="020B0604020202020204" pitchFamily="34" charset="0"/>
              <a:buChar char="•"/>
            </a:pPr>
            <a:r>
              <a:rPr lang="en-US" dirty="0"/>
              <a:t>This mandate could be piloted, and scaled, to extend to all universities in Panamá, repurposing this mandate toward beneficial data collection and assessment of climate vulnerable communities.</a:t>
            </a:r>
          </a:p>
          <a:p>
            <a:endParaRPr lang="en-US" dirty="0"/>
          </a:p>
        </p:txBody>
      </p:sp>
      <p:sp>
        <p:nvSpPr>
          <p:cNvPr id="21" name="Rounded Rectangle 20">
            <a:extLst>
              <a:ext uri="{FF2B5EF4-FFF2-40B4-BE49-F238E27FC236}">
                <a16:creationId xmlns:a16="http://schemas.microsoft.com/office/drawing/2014/main" id="{CE96AAD8-9DD0-F6E8-CBD7-9666040793E3}"/>
              </a:ext>
            </a:extLst>
          </p:cNvPr>
          <p:cNvSpPr/>
          <p:nvPr/>
        </p:nvSpPr>
        <p:spPr>
          <a:xfrm>
            <a:off x="2105894" y="4522305"/>
            <a:ext cx="1828800" cy="907988"/>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University Climate Observatory</a:t>
            </a:r>
          </a:p>
        </p:txBody>
      </p:sp>
      <p:sp>
        <p:nvSpPr>
          <p:cNvPr id="23" name="Rounded Rectangle 22">
            <a:extLst>
              <a:ext uri="{FF2B5EF4-FFF2-40B4-BE49-F238E27FC236}">
                <a16:creationId xmlns:a16="http://schemas.microsoft.com/office/drawing/2014/main" id="{373F0ABB-6C56-C3F6-DCAE-B4DD1F6D98AD}"/>
              </a:ext>
            </a:extLst>
          </p:cNvPr>
          <p:cNvSpPr/>
          <p:nvPr/>
        </p:nvSpPr>
        <p:spPr>
          <a:xfrm>
            <a:off x="6428506" y="4522305"/>
            <a:ext cx="1828800" cy="905256"/>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Climate Data</a:t>
            </a:r>
          </a:p>
        </p:txBody>
      </p:sp>
      <p:sp>
        <p:nvSpPr>
          <p:cNvPr id="24" name="Rounded Rectangle 23">
            <a:extLst>
              <a:ext uri="{FF2B5EF4-FFF2-40B4-BE49-F238E27FC236}">
                <a16:creationId xmlns:a16="http://schemas.microsoft.com/office/drawing/2014/main" id="{D39BF44B-AF81-F985-7B4E-DD476D6CACE2}"/>
              </a:ext>
            </a:extLst>
          </p:cNvPr>
          <p:cNvSpPr/>
          <p:nvPr/>
        </p:nvSpPr>
        <p:spPr>
          <a:xfrm>
            <a:off x="8589812" y="4522305"/>
            <a:ext cx="1828800" cy="905256"/>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Data-Driven National Policy</a:t>
            </a:r>
          </a:p>
        </p:txBody>
      </p:sp>
      <p:cxnSp>
        <p:nvCxnSpPr>
          <p:cNvPr id="26" name="Straight Arrow Connector 25">
            <a:extLst>
              <a:ext uri="{FF2B5EF4-FFF2-40B4-BE49-F238E27FC236}">
                <a16:creationId xmlns:a16="http://schemas.microsoft.com/office/drawing/2014/main" id="{94D0FF1B-A34E-EFC5-3466-17D0E2040BE3}"/>
              </a:ext>
            </a:extLst>
          </p:cNvPr>
          <p:cNvCxnSpPr>
            <a:cxnSpLocks/>
            <a:stCxn id="21" idx="3"/>
          </p:cNvCxnSpPr>
          <p:nvPr/>
        </p:nvCxnSpPr>
        <p:spPr>
          <a:xfrm>
            <a:off x="3934694" y="4976299"/>
            <a:ext cx="33250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815036CE-816C-6D95-1CFC-C5BEF48FA1D1}"/>
              </a:ext>
            </a:extLst>
          </p:cNvPr>
          <p:cNvCxnSpPr>
            <a:cxnSpLocks/>
          </p:cNvCxnSpPr>
          <p:nvPr/>
        </p:nvCxnSpPr>
        <p:spPr>
          <a:xfrm flipV="1">
            <a:off x="6096000" y="4973567"/>
            <a:ext cx="332506" cy="13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80F37F92-9B4D-DC48-0840-FB62790D0476}"/>
              </a:ext>
            </a:extLst>
          </p:cNvPr>
          <p:cNvCxnSpPr>
            <a:cxnSpLocks/>
          </p:cNvCxnSpPr>
          <p:nvPr/>
        </p:nvCxnSpPr>
        <p:spPr>
          <a:xfrm>
            <a:off x="8260628" y="4972201"/>
            <a:ext cx="329184" cy="13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Rounded Rectangle 28">
            <a:extLst>
              <a:ext uri="{FF2B5EF4-FFF2-40B4-BE49-F238E27FC236}">
                <a16:creationId xmlns:a16="http://schemas.microsoft.com/office/drawing/2014/main" id="{D3E03800-E1B9-40EC-0EF2-BBD91ED38C67}"/>
              </a:ext>
            </a:extLst>
          </p:cNvPr>
          <p:cNvSpPr/>
          <p:nvPr/>
        </p:nvSpPr>
        <p:spPr>
          <a:xfrm>
            <a:off x="4267200" y="4522305"/>
            <a:ext cx="1828800" cy="907988"/>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Community Vulnerability Assessments</a:t>
            </a:r>
          </a:p>
        </p:txBody>
      </p:sp>
    </p:spTree>
    <p:extLst>
      <p:ext uri="{BB962C8B-B14F-4D97-AF65-F5344CB8AC3E}">
        <p14:creationId xmlns:p14="http://schemas.microsoft.com/office/powerpoint/2010/main" val="1331195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E36EB-9D63-FF1D-509B-8765087A4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C6FCB-8132-6518-3B51-DC8D817A74DC}"/>
              </a:ext>
            </a:extLst>
          </p:cNvPr>
          <p:cNvSpPr>
            <a:spLocks noGrp="1"/>
          </p:cNvSpPr>
          <p:nvPr>
            <p:ph type="title"/>
          </p:nvPr>
        </p:nvSpPr>
        <p:spPr/>
        <p:txBody>
          <a:bodyPr/>
          <a:lstStyle/>
          <a:p>
            <a:r>
              <a:rPr lang="en-US" dirty="0"/>
              <a:t>A transformative model</a:t>
            </a:r>
          </a:p>
        </p:txBody>
      </p:sp>
      <p:sp>
        <p:nvSpPr>
          <p:cNvPr id="4" name="TextBox 3">
            <a:extLst>
              <a:ext uri="{FF2B5EF4-FFF2-40B4-BE49-F238E27FC236}">
                <a16:creationId xmlns:a16="http://schemas.microsoft.com/office/drawing/2014/main" id="{2FBDD870-D4C3-CFC8-49D3-72E1DDF513FE}"/>
              </a:ext>
            </a:extLst>
          </p:cNvPr>
          <p:cNvSpPr txBox="1"/>
          <p:nvPr/>
        </p:nvSpPr>
        <p:spPr>
          <a:xfrm>
            <a:off x="1784195" y="2096429"/>
            <a:ext cx="184731" cy="369332"/>
          </a:xfrm>
          <a:prstGeom prst="rect">
            <a:avLst/>
          </a:prstGeom>
          <a:noFill/>
        </p:spPr>
        <p:txBody>
          <a:bodyPr wrap="none" rtlCol="0">
            <a:spAutoFit/>
          </a:bodyPr>
          <a:lstStyle/>
          <a:p>
            <a:endParaRPr lang="en-US" dirty="0"/>
          </a:p>
        </p:txBody>
      </p:sp>
      <p:sp>
        <p:nvSpPr>
          <p:cNvPr id="6" name="Rounded Rectangle 5">
            <a:extLst>
              <a:ext uri="{FF2B5EF4-FFF2-40B4-BE49-F238E27FC236}">
                <a16:creationId xmlns:a16="http://schemas.microsoft.com/office/drawing/2014/main" id="{64A598AB-C428-10B4-AF8A-5CFE2EAFE3FC}"/>
              </a:ext>
            </a:extLst>
          </p:cNvPr>
          <p:cNvSpPr/>
          <p:nvPr/>
        </p:nvSpPr>
        <p:spPr>
          <a:xfrm>
            <a:off x="1831070" y="4501597"/>
            <a:ext cx="2354094" cy="9079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Resource Allocation</a:t>
            </a:r>
          </a:p>
        </p:txBody>
      </p:sp>
      <p:sp>
        <p:nvSpPr>
          <p:cNvPr id="7" name="Rounded Rectangle 6">
            <a:extLst>
              <a:ext uri="{FF2B5EF4-FFF2-40B4-BE49-F238E27FC236}">
                <a16:creationId xmlns:a16="http://schemas.microsoft.com/office/drawing/2014/main" id="{2DEF2EEB-588A-F918-5BD3-F441D6DC529D}"/>
              </a:ext>
            </a:extLst>
          </p:cNvPr>
          <p:cNvSpPr/>
          <p:nvPr/>
        </p:nvSpPr>
        <p:spPr>
          <a:xfrm>
            <a:off x="4918953" y="4501597"/>
            <a:ext cx="2354094" cy="9079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Financial</a:t>
            </a:r>
          </a:p>
          <a:p>
            <a:pPr algn="ctr"/>
            <a:r>
              <a:rPr lang="en-US" dirty="0">
                <a:ln w="0"/>
                <a:solidFill>
                  <a:schemeClr val="tx1"/>
                </a:solidFill>
                <a:effectLst>
                  <a:outerShdw blurRad="38100" dist="19050" dir="2700000" algn="tl" rotWithShape="0">
                    <a:schemeClr val="dk1">
                      <a:alpha val="40000"/>
                    </a:schemeClr>
                  </a:outerShdw>
                </a:effectLst>
              </a:rPr>
              <a:t>Assistance</a:t>
            </a:r>
          </a:p>
        </p:txBody>
      </p:sp>
      <p:sp>
        <p:nvSpPr>
          <p:cNvPr id="8" name="Rounded Rectangle 7">
            <a:extLst>
              <a:ext uri="{FF2B5EF4-FFF2-40B4-BE49-F238E27FC236}">
                <a16:creationId xmlns:a16="http://schemas.microsoft.com/office/drawing/2014/main" id="{08475256-85A4-79E7-CBB9-0AEEB2EC1841}"/>
              </a:ext>
            </a:extLst>
          </p:cNvPr>
          <p:cNvSpPr/>
          <p:nvPr/>
        </p:nvSpPr>
        <p:spPr>
          <a:xfrm>
            <a:off x="8006836" y="4501597"/>
            <a:ext cx="2354094" cy="907988"/>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Proactive Planning</a:t>
            </a:r>
          </a:p>
        </p:txBody>
      </p:sp>
      <p:cxnSp>
        <p:nvCxnSpPr>
          <p:cNvPr id="9" name="Straight Arrow Connector 8">
            <a:extLst>
              <a:ext uri="{FF2B5EF4-FFF2-40B4-BE49-F238E27FC236}">
                <a16:creationId xmlns:a16="http://schemas.microsoft.com/office/drawing/2014/main" id="{43771B55-649F-8984-F8BD-574A189E47F6}"/>
              </a:ext>
            </a:extLst>
          </p:cNvPr>
          <p:cNvCxnSpPr>
            <a:cxnSpLocks/>
            <a:endCxn id="6" idx="0"/>
          </p:cNvCxnSpPr>
          <p:nvPr/>
        </p:nvCxnSpPr>
        <p:spPr>
          <a:xfrm>
            <a:off x="3008117" y="4093028"/>
            <a:ext cx="0" cy="408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2120E703-42C5-51C5-1BAE-4598301E948A}"/>
              </a:ext>
            </a:extLst>
          </p:cNvPr>
          <p:cNvCxnSpPr>
            <a:cxnSpLocks/>
          </p:cNvCxnSpPr>
          <p:nvPr/>
        </p:nvCxnSpPr>
        <p:spPr>
          <a:xfrm>
            <a:off x="6096000" y="4093028"/>
            <a:ext cx="0" cy="408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E89A35EC-9801-553F-7F2C-7B1811CB0606}"/>
              </a:ext>
            </a:extLst>
          </p:cNvPr>
          <p:cNvCxnSpPr>
            <a:cxnSpLocks/>
          </p:cNvCxnSpPr>
          <p:nvPr/>
        </p:nvCxnSpPr>
        <p:spPr>
          <a:xfrm>
            <a:off x="9300117" y="4093027"/>
            <a:ext cx="0" cy="408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93EA5F29-F706-CBA5-5303-FE7DDA86A28D}"/>
              </a:ext>
            </a:extLst>
          </p:cNvPr>
          <p:cNvCxnSpPr>
            <a:cxnSpLocks/>
          </p:cNvCxnSpPr>
          <p:nvPr/>
        </p:nvCxnSpPr>
        <p:spPr>
          <a:xfrm flipV="1">
            <a:off x="3001767" y="4095991"/>
            <a:ext cx="6300216" cy="0"/>
          </a:xfrm>
          <a:prstGeom prst="line">
            <a:avLst/>
          </a:prstGeom>
        </p:spPr>
        <p:style>
          <a:lnRef idx="1">
            <a:schemeClr val="dk1"/>
          </a:lnRef>
          <a:fillRef idx="0">
            <a:schemeClr val="dk1"/>
          </a:fillRef>
          <a:effectRef idx="0">
            <a:schemeClr val="dk1"/>
          </a:effectRef>
          <a:fontRef idx="minor">
            <a:schemeClr val="tx1"/>
          </a:fontRef>
        </p:style>
      </p:cxnSp>
      <p:sp>
        <p:nvSpPr>
          <p:cNvPr id="17" name="Rounded Rectangle 16">
            <a:extLst>
              <a:ext uri="{FF2B5EF4-FFF2-40B4-BE49-F238E27FC236}">
                <a16:creationId xmlns:a16="http://schemas.microsoft.com/office/drawing/2014/main" id="{7AFD6DC5-323E-3EC2-2F68-0323447071E1}"/>
              </a:ext>
            </a:extLst>
          </p:cNvPr>
          <p:cNvSpPr/>
          <p:nvPr/>
        </p:nvSpPr>
        <p:spPr>
          <a:xfrm>
            <a:off x="5444247" y="2381188"/>
            <a:ext cx="1828800" cy="907988"/>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Community Vulnerability Assessments</a:t>
            </a:r>
          </a:p>
        </p:txBody>
      </p:sp>
      <p:sp>
        <p:nvSpPr>
          <p:cNvPr id="25" name="Rounded Rectangle 24">
            <a:extLst>
              <a:ext uri="{FF2B5EF4-FFF2-40B4-BE49-F238E27FC236}">
                <a16:creationId xmlns:a16="http://schemas.microsoft.com/office/drawing/2014/main" id="{95919484-F32B-FDCD-96F6-5B7EC268E088}"/>
              </a:ext>
            </a:extLst>
          </p:cNvPr>
          <p:cNvSpPr/>
          <p:nvPr/>
        </p:nvSpPr>
        <p:spPr>
          <a:xfrm>
            <a:off x="7605553" y="2380989"/>
            <a:ext cx="1828800" cy="905256"/>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Climate Data</a:t>
            </a:r>
          </a:p>
        </p:txBody>
      </p:sp>
      <p:sp>
        <p:nvSpPr>
          <p:cNvPr id="26" name="Rounded Rectangle 25">
            <a:extLst>
              <a:ext uri="{FF2B5EF4-FFF2-40B4-BE49-F238E27FC236}">
                <a16:creationId xmlns:a16="http://schemas.microsoft.com/office/drawing/2014/main" id="{76BFF1B0-5703-E4C2-5680-F2668D15337D}"/>
              </a:ext>
            </a:extLst>
          </p:cNvPr>
          <p:cNvSpPr/>
          <p:nvPr/>
        </p:nvSpPr>
        <p:spPr>
          <a:xfrm>
            <a:off x="9766858" y="2380989"/>
            <a:ext cx="1828800" cy="905256"/>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Data-Driven National Policy</a:t>
            </a:r>
          </a:p>
        </p:txBody>
      </p:sp>
      <p:cxnSp>
        <p:nvCxnSpPr>
          <p:cNvPr id="32" name="Straight Arrow Connector 31">
            <a:extLst>
              <a:ext uri="{FF2B5EF4-FFF2-40B4-BE49-F238E27FC236}">
                <a16:creationId xmlns:a16="http://schemas.microsoft.com/office/drawing/2014/main" id="{65AE7E29-357F-E5EA-1727-FECB93AC3278}"/>
              </a:ext>
            </a:extLst>
          </p:cNvPr>
          <p:cNvCxnSpPr>
            <a:cxnSpLocks/>
            <a:endCxn id="25" idx="1"/>
          </p:cNvCxnSpPr>
          <p:nvPr/>
        </p:nvCxnSpPr>
        <p:spPr>
          <a:xfrm flipV="1">
            <a:off x="7273047" y="2833617"/>
            <a:ext cx="332506" cy="13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a:extLst>
              <a:ext uri="{FF2B5EF4-FFF2-40B4-BE49-F238E27FC236}">
                <a16:creationId xmlns:a16="http://schemas.microsoft.com/office/drawing/2014/main" id="{5AA98C0B-4C41-642F-B639-E1FD01800346}"/>
              </a:ext>
            </a:extLst>
          </p:cNvPr>
          <p:cNvCxnSpPr>
            <a:cxnSpLocks/>
            <a:stCxn id="25" idx="3"/>
            <a:endCxn id="26" idx="1"/>
          </p:cNvCxnSpPr>
          <p:nvPr/>
        </p:nvCxnSpPr>
        <p:spPr>
          <a:xfrm>
            <a:off x="9434353" y="2833617"/>
            <a:ext cx="33250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Elbow Connector 43">
            <a:extLst>
              <a:ext uri="{FF2B5EF4-FFF2-40B4-BE49-F238E27FC236}">
                <a16:creationId xmlns:a16="http://schemas.microsoft.com/office/drawing/2014/main" id="{D21659F6-463B-D0B2-EC58-566914369DDC}"/>
              </a:ext>
            </a:extLst>
          </p:cNvPr>
          <p:cNvCxnSpPr>
            <a:cxnSpLocks/>
          </p:cNvCxnSpPr>
          <p:nvPr/>
        </p:nvCxnSpPr>
        <p:spPr>
          <a:xfrm rot="5400000">
            <a:off x="8222201" y="1155397"/>
            <a:ext cx="337737" cy="4599432"/>
          </a:xfrm>
          <a:prstGeom prst="bentConnector2">
            <a:avLst/>
          </a:prstGeom>
          <a:ln>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43CC5AC4-F932-EF18-1C16-393DFA12C0FA}"/>
              </a:ext>
            </a:extLst>
          </p:cNvPr>
          <p:cNvCxnSpPr>
            <a:cxnSpLocks/>
          </p:cNvCxnSpPr>
          <p:nvPr/>
        </p:nvCxnSpPr>
        <p:spPr>
          <a:xfrm>
            <a:off x="6096000" y="3623982"/>
            <a:ext cx="0" cy="469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2" name="Rounded Rectangle 51">
            <a:extLst>
              <a:ext uri="{FF2B5EF4-FFF2-40B4-BE49-F238E27FC236}">
                <a16:creationId xmlns:a16="http://schemas.microsoft.com/office/drawing/2014/main" id="{D008D943-585F-16FB-9D40-D8B497095140}"/>
              </a:ext>
            </a:extLst>
          </p:cNvPr>
          <p:cNvSpPr/>
          <p:nvPr/>
        </p:nvSpPr>
        <p:spPr>
          <a:xfrm>
            <a:off x="3292469" y="2380989"/>
            <a:ext cx="1828800" cy="905256"/>
          </a:xfrm>
          <a:prstGeom prst="roundRect">
            <a:avLst/>
          </a:prstGeom>
          <a:ln>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University Climate Observatory</a:t>
            </a:r>
          </a:p>
        </p:txBody>
      </p:sp>
      <p:cxnSp>
        <p:nvCxnSpPr>
          <p:cNvPr id="55" name="Straight Arrow Connector 54">
            <a:extLst>
              <a:ext uri="{FF2B5EF4-FFF2-40B4-BE49-F238E27FC236}">
                <a16:creationId xmlns:a16="http://schemas.microsoft.com/office/drawing/2014/main" id="{E739B7C3-034D-2036-D128-A413A30273E2}"/>
              </a:ext>
            </a:extLst>
          </p:cNvPr>
          <p:cNvCxnSpPr>
            <a:cxnSpLocks/>
          </p:cNvCxnSpPr>
          <p:nvPr/>
        </p:nvCxnSpPr>
        <p:spPr>
          <a:xfrm flipV="1">
            <a:off x="5111741" y="2833617"/>
            <a:ext cx="332506" cy="13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Rounded Rectangle 55">
            <a:extLst>
              <a:ext uri="{FF2B5EF4-FFF2-40B4-BE49-F238E27FC236}">
                <a16:creationId xmlns:a16="http://schemas.microsoft.com/office/drawing/2014/main" id="{8214C800-B774-55F1-3AFD-72D23355307D}"/>
              </a:ext>
            </a:extLst>
          </p:cNvPr>
          <p:cNvSpPr/>
          <p:nvPr/>
        </p:nvSpPr>
        <p:spPr>
          <a:xfrm>
            <a:off x="869795" y="2824830"/>
            <a:ext cx="1828800" cy="594360"/>
          </a:xfrm>
          <a:prstGeom prst="roundRect">
            <a:avLst/>
          </a:prstGeom>
          <a:ln>
            <a:solidFill>
              <a:schemeClr val="accent2"/>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TCU Mandate</a:t>
            </a:r>
          </a:p>
        </p:txBody>
      </p:sp>
      <p:sp>
        <p:nvSpPr>
          <p:cNvPr id="57" name="Rounded Rectangle 56">
            <a:extLst>
              <a:ext uri="{FF2B5EF4-FFF2-40B4-BE49-F238E27FC236}">
                <a16:creationId xmlns:a16="http://schemas.microsoft.com/office/drawing/2014/main" id="{FE29EEA6-1ED1-8D45-5E64-D90B2C9EB6D6}"/>
              </a:ext>
            </a:extLst>
          </p:cNvPr>
          <p:cNvSpPr/>
          <p:nvPr/>
        </p:nvSpPr>
        <p:spPr>
          <a:xfrm>
            <a:off x="869795" y="2142965"/>
            <a:ext cx="1828800" cy="594360"/>
          </a:xfrm>
          <a:prstGeom prst="roundRect">
            <a:avLst/>
          </a:prstGeom>
          <a:ln>
            <a:solidFill>
              <a:schemeClr val="accent2"/>
            </a:solidFill>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Pilot Funding &amp; Training</a:t>
            </a:r>
          </a:p>
        </p:txBody>
      </p:sp>
      <p:cxnSp>
        <p:nvCxnSpPr>
          <p:cNvPr id="59" name="Elbow Connector 58">
            <a:extLst>
              <a:ext uri="{FF2B5EF4-FFF2-40B4-BE49-F238E27FC236}">
                <a16:creationId xmlns:a16="http://schemas.microsoft.com/office/drawing/2014/main" id="{DAAE694E-71F0-8750-F17A-0E3CBA8D0210}"/>
              </a:ext>
            </a:extLst>
          </p:cNvPr>
          <p:cNvCxnSpPr>
            <a:stCxn id="57" idx="3"/>
            <a:endCxn id="52" idx="1"/>
          </p:cNvCxnSpPr>
          <p:nvPr/>
        </p:nvCxnSpPr>
        <p:spPr>
          <a:xfrm>
            <a:off x="2698595" y="2440145"/>
            <a:ext cx="593874" cy="393472"/>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1" name="Elbow Connector 60">
            <a:extLst>
              <a:ext uri="{FF2B5EF4-FFF2-40B4-BE49-F238E27FC236}">
                <a16:creationId xmlns:a16="http://schemas.microsoft.com/office/drawing/2014/main" id="{4449FE1C-7951-478E-DC00-AD4893E8AD9A}"/>
              </a:ext>
            </a:extLst>
          </p:cNvPr>
          <p:cNvCxnSpPr>
            <a:stCxn id="56" idx="3"/>
            <a:endCxn id="52" idx="1"/>
          </p:cNvCxnSpPr>
          <p:nvPr/>
        </p:nvCxnSpPr>
        <p:spPr>
          <a:xfrm flipV="1">
            <a:off x="2698595" y="2833617"/>
            <a:ext cx="593874" cy="288393"/>
          </a:xfrm>
          <a:prstGeom prst="bentConnector3">
            <a:avLst/>
          </a:prstGeom>
          <a:ln w="19050"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63" name="Elbow Connector 62">
            <a:extLst>
              <a:ext uri="{FF2B5EF4-FFF2-40B4-BE49-F238E27FC236}">
                <a16:creationId xmlns:a16="http://schemas.microsoft.com/office/drawing/2014/main" id="{535F51DB-F2EB-28B4-49C7-458B8F5A74A5}"/>
              </a:ext>
            </a:extLst>
          </p:cNvPr>
          <p:cNvCxnSpPr>
            <a:cxnSpLocks/>
            <a:stCxn id="7" idx="2"/>
            <a:endCxn id="56" idx="2"/>
          </p:cNvCxnSpPr>
          <p:nvPr/>
        </p:nvCxnSpPr>
        <p:spPr>
          <a:xfrm rot="5400000" flipH="1">
            <a:off x="2944900" y="2258486"/>
            <a:ext cx="1990395" cy="4311805"/>
          </a:xfrm>
          <a:prstGeom prst="bentConnector3">
            <a:avLst>
              <a:gd name="adj1" fmla="val -25658"/>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6" name="Straight Arrow Connector 65">
            <a:extLst>
              <a:ext uri="{FF2B5EF4-FFF2-40B4-BE49-F238E27FC236}">
                <a16:creationId xmlns:a16="http://schemas.microsoft.com/office/drawing/2014/main" id="{580CA52C-F646-2C34-6E45-72E90E02A006}"/>
              </a:ext>
            </a:extLst>
          </p:cNvPr>
          <p:cNvCxnSpPr>
            <a:cxnSpLocks/>
            <a:endCxn id="56" idx="2"/>
          </p:cNvCxnSpPr>
          <p:nvPr/>
        </p:nvCxnSpPr>
        <p:spPr>
          <a:xfrm flipV="1">
            <a:off x="1784195" y="3419190"/>
            <a:ext cx="0" cy="12411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0020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550E8-95CA-129E-332E-7A5B13A83A97}"/>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E007E635-4870-A8D4-308B-6B0EA65C2F14}"/>
              </a:ext>
            </a:extLst>
          </p:cNvPr>
          <p:cNvSpPr>
            <a:spLocks noGrp="1"/>
          </p:cNvSpPr>
          <p:nvPr>
            <p:ph idx="1"/>
          </p:nvPr>
        </p:nvSpPr>
        <p:spPr/>
        <p:txBody>
          <a:bodyPr/>
          <a:lstStyle/>
          <a:p>
            <a:r>
              <a:rPr lang="en-US" dirty="0"/>
              <a:t>Questions?</a:t>
            </a:r>
          </a:p>
        </p:txBody>
      </p:sp>
      <p:pic>
        <p:nvPicPr>
          <p:cNvPr id="8194" name="Picture 2" descr="FLAG DAY IN PANAMA - November 4, 2025 - National Today">
            <a:extLst>
              <a:ext uri="{FF2B5EF4-FFF2-40B4-BE49-F238E27FC236}">
                <a16:creationId xmlns:a16="http://schemas.microsoft.com/office/drawing/2014/main" id="{99E04F11-3839-BC2F-9416-2ACEB57BF4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30295" y="2539602"/>
            <a:ext cx="3792370" cy="2635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4722152"/>
      </p:ext>
    </p:extLst>
  </p:cSld>
  <p:clrMapOvr>
    <a:masterClrMapping/>
  </p:clrMapOvr>
</p:sld>
</file>

<file path=ppt/theme/theme1.xml><?xml version="1.0" encoding="utf-8"?>
<a:theme xmlns:a="http://schemas.openxmlformats.org/drawingml/2006/main" name="Brazil">
  <a:themeElements>
    <a:clrScheme name="Custom 2">
      <a:dk1>
        <a:srgbClr val="0C0C0C"/>
      </a:dk1>
      <a:lt1>
        <a:srgbClr val="FFFFFF"/>
      </a:lt1>
      <a:dk2>
        <a:srgbClr val="0C0C0C"/>
      </a:dk2>
      <a:lt2>
        <a:srgbClr val="CCDDEA"/>
      </a:lt2>
      <a:accent1>
        <a:srgbClr val="DB2024"/>
      </a:accent1>
      <a:accent2>
        <a:srgbClr val="001D56"/>
      </a:accent2>
      <a:accent3>
        <a:srgbClr val="865640"/>
      </a:accent3>
      <a:accent4>
        <a:srgbClr val="9B8357"/>
      </a:accent4>
      <a:accent5>
        <a:srgbClr val="C2BC80"/>
      </a:accent5>
      <a:accent6>
        <a:srgbClr val="94A088"/>
      </a:accent6>
      <a:hlink>
        <a:srgbClr val="2998E3"/>
      </a:hlink>
      <a:folHlink>
        <a:srgbClr val="8C8C8C"/>
      </a:folHlink>
    </a:clrScheme>
    <a:fontScheme name="Consolas-Verdana">
      <a:majorFont>
        <a:latin typeface="Consolas" panose="020B0609020204030204"/>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Verdana" panose="020B060403050404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Brazil" id="{614E28B0-41A9-CA49-9066-EC348F0EC2AD}" vid="{8CFEF3B5-54FC-D74B-BA27-219F32840D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3ba08d0-c7ab-4985-b983-be4cb97bcf8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8281FB141628244A6C98DEB90F132BF" ma:contentTypeVersion="9" ma:contentTypeDescription="Create a new document." ma:contentTypeScope="" ma:versionID="d72a33cb3dad6933c7e794a9a15efc37">
  <xsd:schema xmlns:xsd="http://www.w3.org/2001/XMLSchema" xmlns:xs="http://www.w3.org/2001/XMLSchema" xmlns:p="http://schemas.microsoft.com/office/2006/metadata/properties" xmlns:ns3="d3ba08d0-c7ab-4985-b983-be4cb97bcf8e" xmlns:ns4="ecdf3db3-beb8-4152-bab1-ccf8f8bc100f" targetNamespace="http://schemas.microsoft.com/office/2006/metadata/properties" ma:root="true" ma:fieldsID="11c4dd581f0a3d9867eac3714ec9b24d" ns3:_="" ns4:_="">
    <xsd:import namespace="d3ba08d0-c7ab-4985-b983-be4cb97bcf8e"/>
    <xsd:import namespace="ecdf3db3-beb8-4152-bab1-ccf8f8bc100f"/>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SearchProperties" minOccurs="0"/>
                <xsd:element ref="ns3:MediaServiceObjectDetectorVersions" minOccurs="0"/>
                <xsd:element ref="ns3:MediaServiceDateTaken"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3ba08d0-c7ab-4985-b983-be4cb97bcf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_activity" ma:index="16"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df3db3-beb8-4152-bab1-ccf8f8bc100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A86C52-0DE1-4E9D-A35D-069AC0B758BA}">
  <ds:schemaRefs>
    <ds:schemaRef ds:uri="http://schemas.microsoft.com/sharepoint/v3/contenttype/forms"/>
  </ds:schemaRefs>
</ds:datastoreItem>
</file>

<file path=customXml/itemProps2.xml><?xml version="1.0" encoding="utf-8"?>
<ds:datastoreItem xmlns:ds="http://schemas.openxmlformats.org/officeDocument/2006/customXml" ds:itemID="{D6491FB7-2430-40EA-92AE-B659047138B8}">
  <ds:schemaRefs>
    <ds:schemaRef ds:uri="http://purl.org/dc/dcmitype/"/>
    <ds:schemaRef ds:uri="http://purl.org/dc/elements/1.1/"/>
    <ds:schemaRef ds:uri="http://schemas.microsoft.com/office/2006/documentManagement/types"/>
    <ds:schemaRef ds:uri="http://www.w3.org/XML/1998/namespace"/>
    <ds:schemaRef ds:uri="http://schemas.microsoft.com/office/2006/metadata/properties"/>
    <ds:schemaRef ds:uri="http://purl.org/dc/terms/"/>
    <ds:schemaRef ds:uri="d3ba08d0-c7ab-4985-b983-be4cb97bcf8e"/>
    <ds:schemaRef ds:uri="http://schemas.microsoft.com/office/infopath/2007/PartnerControls"/>
    <ds:schemaRef ds:uri="http://schemas.openxmlformats.org/package/2006/metadata/core-properties"/>
    <ds:schemaRef ds:uri="ecdf3db3-beb8-4152-bab1-ccf8f8bc100f"/>
  </ds:schemaRefs>
</ds:datastoreItem>
</file>

<file path=customXml/itemProps3.xml><?xml version="1.0" encoding="utf-8"?>
<ds:datastoreItem xmlns:ds="http://schemas.openxmlformats.org/officeDocument/2006/customXml" ds:itemID="{6F053937-3881-41BB-A577-474B4312E9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3ba08d0-c7ab-4985-b983-be4cb97bcf8e"/>
    <ds:schemaRef ds:uri="ecdf3db3-beb8-4152-bab1-ccf8f8bc10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Brazil</Template>
  <TotalTime>698</TotalTime>
  <Words>1022</Words>
  <Application>Microsoft Macintosh PowerPoint</Application>
  <PresentationFormat>Widescreen</PresentationFormat>
  <Paragraphs>70</Paragraphs>
  <Slides>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Arial</vt:lpstr>
      <vt:lpstr>Arial Rounded MT Bold</vt:lpstr>
      <vt:lpstr>Calibri</vt:lpstr>
      <vt:lpstr>Consolas</vt:lpstr>
      <vt:lpstr>Verdana</vt:lpstr>
      <vt:lpstr>Brazil</vt:lpstr>
      <vt:lpstr>Bridging Panama’s Climate Data Gap Through Academic Institutions</vt:lpstr>
      <vt:lpstr>Background</vt:lpstr>
      <vt:lpstr>The climate data gap</vt:lpstr>
      <vt:lpstr>Why the data gap is a problem</vt:lpstr>
      <vt:lpstr>Closing the gap</vt:lpstr>
      <vt:lpstr>Implementation: The University Climate Observatory Framework</vt:lpstr>
      <vt:lpstr>A transformative model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Tomas Anthony Schmieder</dc:creator>
  <cp:lastModifiedBy>Tomas Anthony Schmieder</cp:lastModifiedBy>
  <cp:revision>8</cp:revision>
  <dcterms:created xsi:type="dcterms:W3CDTF">2025-11-16T01:32:39Z</dcterms:created>
  <dcterms:modified xsi:type="dcterms:W3CDTF">2025-11-17T03:35:00Z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0x01010088281FB141628244A6C98DEB90F132BF</vt:lpwstr>
  </property>
</Properties>
</file>